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1162c27324fdc" /><Relationship Type="http://schemas.openxmlformats.org/officeDocument/2006/relationships/extended-properties" Target="/docProps/app.xml" Id="R2f9fb1a952ea4021" /><Relationship Type="http://schemas.openxmlformats.org/officeDocument/2006/relationships/officeDocument" Target="/ppt/presentation.xml" Id="R88bf518e00fe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80d71af334d48"/>
  </p:sldMasterIdLst>
  <p:notesMasterIdLst>
    <p:notesMasterId xmlns:r="http://schemas.openxmlformats.org/officeDocument/2006/relationships" r:id="Ra97a73d65c5a472a"/>
  </p:notesMasterIdLst>
  <p:sldIdLst>
    <p:sldId xmlns:r="http://schemas.openxmlformats.org/officeDocument/2006/relationships" id="256" r:id="Reaaa63ac05114c42"/>
    <p:sldId xmlns:r="http://schemas.openxmlformats.org/officeDocument/2006/relationships" id="257" r:id="R5966046cba3144fc"/>
    <p:sldId xmlns:r="http://schemas.openxmlformats.org/officeDocument/2006/relationships" id="258" r:id="R299a4c0303734a9b"/>
    <p:sldId xmlns:r="http://schemas.openxmlformats.org/officeDocument/2006/relationships" id="259" r:id="Rfe58ad8107894edf"/>
    <p:sldId xmlns:r="http://schemas.openxmlformats.org/officeDocument/2006/relationships" id="260" r:id="Ra06c15a3077241f2"/>
    <p:sldId xmlns:r="http://schemas.openxmlformats.org/officeDocument/2006/relationships" id="261" r:id="Ra53d4ca24a904d0e"/>
    <p:sldId xmlns:r="http://schemas.openxmlformats.org/officeDocument/2006/relationships" id="262" r:id="R13a8e7d536704ee8"/>
    <p:sldId xmlns:r="http://schemas.openxmlformats.org/officeDocument/2006/relationships" id="263" r:id="R39a39979bcb44507"/>
    <p:sldId xmlns:r="http://schemas.openxmlformats.org/officeDocument/2006/relationships" id="264" r:id="Rf1fd0def72e7465e"/>
    <p:sldId xmlns:r="http://schemas.openxmlformats.org/officeDocument/2006/relationships" id="265" r:id="R293e279eff4d40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c46048a08429b" /><Relationship Type="http://schemas.openxmlformats.org/officeDocument/2006/relationships/slideMaster" Target="/ppt/slideMasters/slideMaster1.xml" Id="R27480d71af334d48" /><Relationship Type="http://schemas.openxmlformats.org/officeDocument/2006/relationships/notesMaster" Target="/ppt/notesMasters/notesMaster1.xml" Id="Ra97a73d65c5a472a" /><Relationship Type="http://schemas.openxmlformats.org/officeDocument/2006/relationships/presProps" Target="/ppt/presProps.xml" Id="R32d8fccbb35a4bfb" /><Relationship Type="http://schemas.openxmlformats.org/officeDocument/2006/relationships/tableStyles" Target="/ppt/tableStyles.xml" Id="Rd1fd23de22794d57" /><Relationship Type="http://schemas.openxmlformats.org/officeDocument/2006/relationships/slide" Target="/ppt/slides/slide1.xml" Id="Reaaa63ac05114c42" /><Relationship Type="http://schemas.openxmlformats.org/officeDocument/2006/relationships/slide" Target="/ppt/slides/slide2.xml" Id="R5966046cba3144fc" /><Relationship Type="http://schemas.openxmlformats.org/officeDocument/2006/relationships/slide" Target="/ppt/slides/slide3.xml" Id="R299a4c0303734a9b" /><Relationship Type="http://schemas.openxmlformats.org/officeDocument/2006/relationships/slide" Target="/ppt/slides/slide4.xml" Id="Rfe58ad8107894edf" /><Relationship Type="http://schemas.openxmlformats.org/officeDocument/2006/relationships/slide" Target="/ppt/slides/slide5.xml" Id="Ra06c15a3077241f2" /><Relationship Type="http://schemas.openxmlformats.org/officeDocument/2006/relationships/slide" Target="/ppt/slides/slide6.xml" Id="Ra53d4ca24a904d0e" /><Relationship Type="http://schemas.openxmlformats.org/officeDocument/2006/relationships/slide" Target="/ppt/slides/slide7.xml" Id="R13a8e7d536704ee8" /><Relationship Type="http://schemas.openxmlformats.org/officeDocument/2006/relationships/slide" Target="/ppt/slides/slide8.xml" Id="R39a39979bcb44507" /><Relationship Type="http://schemas.openxmlformats.org/officeDocument/2006/relationships/slide" Target="/ppt/slides/slide9.xml" Id="Rf1fd0def72e7465e" /><Relationship Type="http://schemas.openxmlformats.org/officeDocument/2006/relationships/slide" Target="/ppt/slides/slide10.xml" Id="R293e279eff4d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ef0013aa342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e32fe6b2574b67" /><Relationship Type="http://schemas.openxmlformats.org/officeDocument/2006/relationships/notesMaster" Target="/ppt/notesMasters/notesMaster1.xml" Id="Rddf67e56fd76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13f98d105444f8" /><Relationship Type="http://schemas.openxmlformats.org/officeDocument/2006/relationships/notesMaster" Target="/ppt/notesMasters/notesMaster1.xml" Id="Reb10bb10dd93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cff42be9b4814" /><Relationship Type="http://schemas.openxmlformats.org/officeDocument/2006/relationships/notesMaster" Target="/ppt/notesMasters/notesMaster1.xml" Id="R86a8b47a3030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0bad7325a64499" /><Relationship Type="http://schemas.openxmlformats.org/officeDocument/2006/relationships/notesMaster" Target="/ppt/notesMasters/notesMaster1.xml" Id="Rba10766057f44e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ae7c98a3b415e" /><Relationship Type="http://schemas.openxmlformats.org/officeDocument/2006/relationships/notesMaster" Target="/ppt/notesMasters/notesMaster1.xml" Id="Rcc605302833349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af514b76cd4c06" /><Relationship Type="http://schemas.openxmlformats.org/officeDocument/2006/relationships/notesMaster" Target="/ppt/notesMasters/notesMaster1.xml" Id="R82e694610baf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854a09ecc54291" /><Relationship Type="http://schemas.openxmlformats.org/officeDocument/2006/relationships/notesMaster" Target="/ppt/notesMasters/notesMaster1.xml" Id="R15d42d6be2ec40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6992220574402" /><Relationship Type="http://schemas.openxmlformats.org/officeDocument/2006/relationships/notesMaster" Target="/ppt/notesMasters/notesMaster1.xml" Id="R957ed63c17fc46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d6affaacc547dd" /><Relationship Type="http://schemas.openxmlformats.org/officeDocument/2006/relationships/notesMaster" Target="/ppt/notesMasters/notesMaster1.xml" Id="R9361ffad57e94d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43b01ac3c040d3" /><Relationship Type="http://schemas.openxmlformats.org/officeDocument/2006/relationships/notesMaster" Target="/ppt/notesMasters/notesMaster1.xml" Id="R4bd47c0b2b94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GreenCity production homepage: https://green-city-web.vercel.app/vi (captured 2026-08-02)</a:t>
            </a:r>
          </a:p>
          <a:p xmlns:a="http://schemas.openxmlformats.org/drawingml/2006/main">
            <a:r>
              <a:t>- Repository README.md and docs/project-context.md at merge commit 0e52ca7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docs/project-context.md — Marketplace and Cleanup contribution domains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working marketplace vertical slice</a:t>
            </a:r>
          </a:p>
          <a:p xmlns:a="http://schemas.openxmlformats.org/drawingml/2006/main">
            <a:r>
              <a:t>- docs/demo-runbook.md — verified cleanup report and reward demo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docs/state-machines.md — server-side transitions and reward ledger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GreenCity sell-scrap page: https://green-city-web.vercel.app/vi/ban-phe-lieu (captured 2026-08-02)</a:t>
            </a:r>
          </a:p>
          <a:p xmlns:a="http://schemas.openxmlformats.org/drawingml/2006/main">
            <a:r>
              <a:t>- README.md and GitHub CI run 30733632353 for merge commit 0e52ca7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one-time 50,000 VND / 30-day buyer eligibility checkout</a:t>
            </a:r>
          </a:p>
          <a:p xmlns:a="http://schemas.openxmlformats.org/drawingml/2006/main">
            <a:r>
              <a:t>- docs/demo-runbook.md — buyer fee, buy/sell spread, and rewards positioning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docs/project-context.md — hard product constraints</a:t>
            </a:r>
          </a:p>
          <a:p xmlns:a="http://schemas.openxmlformats.org/drawingml/2006/main">
            <a:r>
              <a:t>- docs/state-machines.md — guards, invariants, payment confirmation, and reward ledger</a:t>
            </a:r>
          </a:p>
          <a:p xmlns:a="http://schemas.openxmlformats.org/drawingml/2006/main">
            <a:r>
              <a:t>- README.md — Argon2id sessions and HMAC-signed payOS webhook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— modular monolith, module boundaries, adapters, and data layer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working features and explicit non-implemented items</a:t>
            </a:r>
          </a:p>
          <a:p xmlns:a="http://schemas.openxmlformats.org/drawingml/2006/main">
            <a:r>
              <a:t>- docs/demo-runbook.md — production demo flow</a:t>
            </a:r>
          </a:p>
          <a:p xmlns:a="http://schemas.openxmlformats.org/drawingml/2006/main">
            <a:r>
              <a:t>- docs/implementation-roadmap.md — phased delivery direction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payOS integration requires real merchant credentials and production round trip</a:t>
            </a:r>
          </a:p>
          <a:p xmlns:a="http://schemas.openxmlformats.org/drawingml/2006/main">
            <a:r>
              <a:t>- docs/project-context.md — marketplace and cleanup partner 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af0bc0405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8546c0a9f64904" /><Relationship Type="http://schemas.openxmlformats.org/officeDocument/2006/relationships/slideLayout" Target="/ppt/slideLayouts/slideLayout1.xml" Id="Rbad80e9baca242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80e9baca242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0623fa80a4f45" /><Relationship Type="http://schemas.openxmlformats.org/officeDocument/2006/relationships/image" Target="/ppt/media/image.png" Id="R46a63efec82e43a8" /><Relationship Type="http://schemas.openxmlformats.org/officeDocument/2006/relationships/notesSlide" Target="/ppt/notesSlides/notesSlide1.xml" Id="Reeea0853bbee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3422c215e47b2" /><Relationship Type="http://schemas.openxmlformats.org/officeDocument/2006/relationships/notesSlide" Target="/ppt/notesSlides/notesSlide2.xml" Id="R2644c48a1a4840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6fd16345d4a06" /><Relationship Type="http://schemas.openxmlformats.org/officeDocument/2006/relationships/notesSlide" Target="/ppt/notesSlides/notesSlide3.xml" Id="Rf702c3a0f891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3961d9f74b86" /><Relationship Type="http://schemas.openxmlformats.org/officeDocument/2006/relationships/notesSlide" Target="/ppt/notesSlides/notesSlide4.xml" Id="R27a51067df2f42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b29bfae0446d1" /><Relationship Type="http://schemas.openxmlformats.org/officeDocument/2006/relationships/image" Target="/ppt/media/image2.png" Id="Rd520a0e7f2e44ed2" /><Relationship Type="http://schemas.openxmlformats.org/officeDocument/2006/relationships/notesSlide" Target="/ppt/notesSlides/notesSlide5.xml" Id="R75d25f0d8e9449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559a5d3bf42d4" /><Relationship Type="http://schemas.openxmlformats.org/officeDocument/2006/relationships/notesSlide" Target="/ppt/notesSlides/notesSlide6.xml" Id="R740e363c50ac4a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ff05a206844cb" /><Relationship Type="http://schemas.openxmlformats.org/officeDocument/2006/relationships/notesSlide" Target="/ppt/notesSlides/notesSlide7.xml" Id="Rf5afa82a195146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56b27cfd24538" /><Relationship Type="http://schemas.openxmlformats.org/officeDocument/2006/relationships/notesSlide" Target="/ppt/notesSlides/notesSlide8.xml" Id="Re1fb5e8904864a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295e5eb4b46cf" /><Relationship Type="http://schemas.openxmlformats.org/officeDocument/2006/relationships/notesSlide" Target="/ppt/notesSlides/notesSlide9.xml" Id="R2e27bfb83f1240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6e9ab625140a2" /><Relationship Type="http://schemas.openxmlformats.org/officeDocument/2006/relationships/notesSlide" Target="/ppt/notesSlides/notesSlide10.xml" Id="Rbcd347e76aac48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8AA75A5-8008-48A9-8721-C21029B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5F97CB8-B2C2-42D8-AA3A-A288AE8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GREENCITY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1FC932BE-CF50-4012-A9A7-132FCB9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4573808-7133-4029-8D45-55B9BB2E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latin typeface="Helvetica Neue"/>
                <a:ea typeface="Helvetica Neue"/>
                <a:cs typeface="Helvetica Neue"/>
              </a:rPr>
              <a:t>Rác có người mua.
Điểm rác có người báo.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latin typeface="Helvetica Neue"/>
                <a:ea typeface="Helvetica Neue"/>
                <a:cs typeface="Helvetica Neue"/>
              </a:rPr>
              <a:t>Nền tảng số kết nối người bán phế liệu, người mua tái chế và cộng đồng đô thị trong một vòng lặp có xác minh.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63efec82e43a8"/>
          <a:srcRect xmlns:a="http://schemas.openxmlformats.org/drawingml/2006/main" l="0" t="17977" r="0" b="17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6284725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3857F34-4E46-4125-BED5-FD4F412D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A9DFF4B-0D94-450C-8BA6-4BFA5A9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Hai vấn đề đô thị đang bị xử lý rời rạc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2C50FA2-FD40-4F77-B643-D810C0CF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latin typeface="Helvetica Neue"/>
                <a:ea typeface="Helvetica Neue"/>
                <a:cs typeface="Helvetica Neue"/>
              </a:rPr>
              <a:t>Phế liệu có giá trị nhưng thiếu minh bạch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Người bán khó biết khung giá hợp lý; người mua khó tiếp cận nguồn hàng đã được kiểm định và có vị trí phù hợp.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16C61DF0-B6B8-4C12-96F6-2BAE5E54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Điểm rác tự phát thiếu một luồng xác minh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Cộng đồng có thể phát hiện nhanh, nhưng báo cáo, chống trùng lặp, giao việc và ghi nhận đóng góp thường không nằm trong cùng một hệ thống.</a:t>
            </a:r>
          </a:p>
        </p:txBody>
      </p:sp>
    </p:spTree>
    <p:extLst>
      <p:ext uri="{BB962C8B-B14F-4D97-AF65-F5344CB8AC3E}">
        <p14:creationId xmlns:p14="http://schemas.microsoft.com/office/powerpoint/2010/main" val="19716870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F3123B0-8320-4297-A2EC-53E47C37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782A22-2A4F-4481-9ECD-B8053DD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GreenCity nối ba vai trò trong một vòng lặp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7EF286AA-8324-4E8D-85D8-8F75D14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NGƯỜI BÁN
Gửi ảnh, loại vật liệu và vị trí; nhận báo giá theo khung công khai.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CB78851E-5607-4366-9501-3C29AEE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NGƯỜI MUA
Dùng gói 30 ngày để đặt giữ nguồn vật liệu tái chế đã kiểm định.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DB2B90BE-4890-4590-932F-995EC5F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CỘNG ĐỒNG
Báo điểm rác; nhận điểm khi đóng góp được xác minh.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4C17F00-A05B-4AE5-8877-5E61F16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043CE70F-4053-49D6-862B-1B406FD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DC08A3C7-D7DC-4A97-AAA0-4361EFC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9757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DAFE045-ECA7-4982-96E4-C795180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7294987-0E7A-4927-948D-F7F4183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Một hành động được xác minh tạo ra giá trị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96CA547-2560-428D-9A3D-6EA36F7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4288929-DC02-4F5F-8A59-548CE0DF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3BBDE49-FFDD-4D4E-B65A-1D6CD9A0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A93112A-A841-4DD9-9D8E-17DB5A9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01 · GỬI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C03178C-B67B-4DED-8B5B-E1367118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02 · XÁC MINH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4A62E39-2CB7-4537-AC97-0D85212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03 · GHI NHẬN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2FAFA71-1FE5-40DB-9C57-3EE2C70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Kiểm tra điều kiện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 và hệ thống kiểm tra giá, trạng thái, quyền và trùng lặp.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D693C0D-4925-4F9C-85FE-6F4083FF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Bán hoặc báo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Người dùng tạo yêu cầu với ảnh và dữ liệu cần thiết.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9C68DD0-5F41-437B-9DDF-1B2670B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Giao dịch hoặc điểm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Chỉ sự kiện hợp lệ mới tạo kết quả và ghi vào ledger.</a:t>
            </a:r>
          </a:p>
        </p:txBody>
      </p:sp>
    </p:spTree>
    <p:extLst>
      <p:ext uri="{BB962C8B-B14F-4D97-AF65-F5344CB8AC3E}">
        <p14:creationId xmlns:p14="http://schemas.microsoft.com/office/powerpoint/2010/main" val="21433192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645CB30D-B99F-4229-9945-DD261DBA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latin typeface="Helvetica Neue"/>
                <a:ea typeface="Helvetica Neue"/>
                <a:cs typeface="Helvetica Neue"/>
              </a:rPr>
              <a:t>Không phải mockup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Web responsive tiếng Việt/English, đăng ký và session bảo mật.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Khung giá phế liệu công khai, gửi yêu cầu bán và quy trình báo giá.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Marketplace, đặt giữ, admin workflow và reward ledger đã có kiểm thử.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67391497-E7D1-4CD7-8489-77E9DCEF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11377ED0-286A-465A-9453-D65E8050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Sản phẩm đã chạy trên production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C933B6A-2831-4BC3-B813-40AAAFFB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a0e7f2e44ed2"/>
          <a:srcRect xmlns:a="http://schemas.openxmlformats.org/drawingml/2006/main" l="5691" t="0" r="56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5069" y="1809750"/>
            <a:ext cx="5537168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</p:spTree>
    <p:extLst>
      <p:ext uri="{BB962C8B-B14F-4D97-AF65-F5344CB8AC3E}">
        <p14:creationId xmlns:p14="http://schemas.microsoft.com/office/powerpoint/2010/main" val="11652158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C85A02D-3BD1-49A1-8BC9-71E905A5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D56D53D-9415-41DB-B2F1-B0F5F39C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Doanh thu đến từ giao dịch, không từ điểm thưởng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FB9AC0C-C37A-4EB4-B1D6-5980D44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Gói người mua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50.000đ cho 30 ngày truy cập chức năng đặt giữ.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74AD123-F139-4A4D-900E-5C4751A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Chênh lệch theo kg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Hệ thống lưu giá mua và giá bán để tạo biên giao dịch.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15674B0-FFCD-47E1-B2EF-EBB82898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Điểm thưởng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Chi phí giữ chân và thúc đẩy hành vi tốt; không phải doanh thu hay tiền mặt.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2A0660C-94DD-4DF8-9ADC-3EB51FE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Mở rộng qua đối tác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Thu gom, tái chế và dịch vụ công cộng tạo thêm nơi dùng điểm và nguồn cung.</a:t>
            </a:r>
          </a:p>
        </p:txBody>
      </p:sp>
    </p:spTree>
    <p:extLst>
      <p:ext uri="{BB962C8B-B14F-4D97-AF65-F5344CB8AC3E}">
        <p14:creationId xmlns:p14="http://schemas.microsoft.com/office/powerpoint/2010/main" val="17054394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E410D5C-1361-433B-830B-D5DDDB17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C6738D1-67A4-4B81-A66D-0D8B40FC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Niềm tin được khóa ở tầng hệ thống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458B5C4-2553-47EA-B7F5-022892A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latin typeface="Helvetica Neue"/>
                <a:ea typeface="Helvetica Neue"/>
                <a:cs typeface="Helvetica Neue"/>
              </a:rPr>
              <a:t>GreenCity không dựa vào nút bấm bị vô hiệu hóa trên giao diện.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F2CEE19-862D-4CD7-A149-EE1A0D2C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Một listing chỉ có một người đặt giữ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06AFE38-E5E9-4F9B-8832-C57D26D6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7150048-66C0-4F2D-AD73-F7B5FA5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Các invariant quan trọng được kiểm tra ở server và database.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Kết quả: ít gian lận hơn, dễ audit hơn, và có nền tảng để chạy pilot thật.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D2A6902-C31C-4C4A-A973-32843E8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Địa chỉ chính xác không công khai sớm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11B1F45-5972-41BB-8CCC-A9ECAB60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B8A17DD-0740-4E64-82A7-446F1A6B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Payment webhook được xác minh HMAC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36A23DC-3907-43F7-8A22-DFFF067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FB7423A6-F823-4C95-A8DD-83B9AC1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Reward ledger chỉ ghi thêm, chống cộng trùng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D6F063D1-C417-427B-81C8-83D4E8E3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5A6F9D51-6B30-472E-A56D-BB500151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Mọi state transition nằm ở server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CB9D45F2-C1C3-47A9-9E6A-446A5012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8923141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B884740D-98CE-41D8-B6A6-BAFAB40E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latin typeface="Helvetica Neue"/>
                <a:ea typeface="Helvetica Neue"/>
                <a:cs typeface="Helvetica Neue"/>
              </a:rPr>
              <a:t>Modular monolith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Một Next.js web app và một NestJS API: ít moving parts, dễ vận hành cho giai đoạn pilot.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Business state nằm ở server; cookie đi qua same-origin proxy.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PostgreSQL + PostGIS giữ giao dịch, vị trí và constraint cạnh tranh.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288E6A8A-7616-4978-94D0-178787DC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9BA6D31F-5536-4C2D-A0B5-8B2BA9A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Kiến trúc gọn để thử nghiệm nhanh và an toàn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E5B16BF-4DC4-454A-A1BE-56E9F46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architecture-actors">
            <a:extLst xmlns:a="http://schemas.openxmlformats.org/drawingml/2006/main">
              <a:ext uri="{FF2B5EF4-FFF2-40B4-BE49-F238E27FC236}">
                <a16:creationId xmlns:a16="http://schemas.microsoft.com/office/drawing/2014/main" id="{EA41ACE3-10A5-4B18-88C4-F983ADE8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476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Seller · Buyer</a:t>
            </a:r>
          </a:p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Reporter · Admin</a:t>
            </a:r>
          </a:p>
        </p:txBody>
      </p:sp>
      <p:sp>
        <p:nvSpPr>
          <p:cNvPr id="6" name="architecture-web">
            <a:extLst xmlns:a="http://schemas.openxmlformats.org/drawingml/2006/main">
              <a:ext uri="{FF2B5EF4-FFF2-40B4-BE49-F238E27FC236}">
                <a16:creationId xmlns:a16="http://schemas.microsoft.com/office/drawing/2014/main" id="{29FEE1D2-D16C-48F8-8640-9483D16D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128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Next.js</a:t>
            </a:r>
          </a:p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Web</a:t>
            </a:r>
          </a:p>
        </p:txBody>
      </p:sp>
      <p:sp>
        <p:nvSpPr>
          <p:cNvPr id="7" name="architecture-api">
            <a:extLst xmlns:a="http://schemas.openxmlformats.org/drawingml/2006/main">
              <a:ext uri="{FF2B5EF4-FFF2-40B4-BE49-F238E27FC236}">
                <a16:creationId xmlns:a16="http://schemas.microsoft.com/office/drawing/2014/main" id="{9F0F9984-C63C-4CFD-8505-AE1060C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571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9E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NestJS</a:t>
            </a:r>
          </a:p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Business core</a:t>
            </a:r>
          </a:p>
        </p:txBody>
      </p:sp>
      <p:sp>
        <p:nvSpPr>
          <p:cNvPr id="8" name="architecture-infrastructure">
            <a:extLst xmlns:a="http://schemas.openxmlformats.org/drawingml/2006/main">
              <a:ext uri="{FF2B5EF4-FFF2-40B4-BE49-F238E27FC236}">
                <a16:creationId xmlns:a16="http://schemas.microsoft.com/office/drawing/2014/main" id="{8DEA2EA9-A1AF-4B92-B28B-00E3C3D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619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DATA &amp; INTEGRATIONS</a:t>
            </a:r>
          </a:p>
          <a:p xmlns:a="http://schemas.openxmlformats.org/drawingml/2006/main">
            <a:pPr algn="ctr">
              <a:defRPr sz="1500" b="1">
                <a:solidFill>
                  <a:srgbClr val="123B31"/>
                </a:solidFill>
              </a:defRPr>
            </a:pPr>
            <a:r>
              <a:rPr sz="1500" b="1">
                <a:solidFill>
                  <a:srgbClr val="123B31"/>
                </a:solidFill>
              </a:rPr>
              <a:t>PostgreSQL + PostGIS  ·  Object storage  ·  payOS adapter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953375" y="2390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280"/>
            </a:solidFill>
            <a:prstDash val="solid"/>
            <a:tailEnd type="arrow" w="sm" len="sm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2390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280"/>
            </a:solidFill>
            <a:prstDash val="solid"/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263063" y="2781300"/>
            <a:ext cx="1524000" cy="1314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B7280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3245105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D648FD4-33A0-4834-8CF4-222E3E39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207E1D0-3CBE-407A-916C-CA52DE12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 bước để biến MVP thành pilot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451B6A6-2563-4E1C-95AD-E53B03A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12C792B-5485-4BFD-9DDB-16A947E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FA69BAF-96CF-4286-8092-8FCB2590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B2ADFF1-7B10-49CB-A3D1-379915F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0AB5EE9-33A0-431D-9F3F-AEA58560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MVP đang chạy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Marketplace vertical slice, cleanup report verification, reward ledger, CI và production deployment.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FE22B3AD-6EA8-4027-B811-28CEE3F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48EAFEE-9FA2-4C1B-9D69-EC513BC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Pilot có giao dịch thật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Kết nối merchant payOS thật; thử nghiệm với cơ sở thu mua và nhóm người dùng giới hạn.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C8CA1FF0-243A-4F54-B45A-14A5096F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641DC33B-71FF-4EDD-B93D-D01114D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Vận hành theo địa bàn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Bổ sung phân công cleanup, bằng chứng trước/sau và đối tác đổi điểm dịch vụ công cộng.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65A3173-2B32-456A-817A-5A53F19F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21D7FA33-1242-4C25-917C-87F5111A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HÔM NAY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43FD2DCB-FBD0-4E13-903F-FA170634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MỞ RỘNG</a:t>
            </a:r>
          </a:p>
        </p:txBody>
      </p:sp>
    </p:spTree>
    <p:extLst>
      <p:ext uri="{BB962C8B-B14F-4D97-AF65-F5344CB8AC3E}">
        <p14:creationId xmlns:p14="http://schemas.microsoft.com/office/powerpoint/2010/main" val="7207035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1BF93B9-1E12-46EA-9180-3F3C601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/>
              <a:t>Cùng GreenCity chạy pilot tại TP.HCM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6BFDAA8-8A33-40A9-94FD-10FCBCA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Cần: merchant payOS thật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Cơ sở thu mua / tái chế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Đối tác cleanup và đổi điểm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DAF65EB-8962-47CF-8FC7-5550A8E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/>
              <a:t>GREEN CITY · VIỆT NAM</a:t>
            </a:r>
          </a:p>
        </p:txBody>
      </p:sp>
    </p:spTree>
    <p:extLst>
      <p:ext uri="{BB962C8B-B14F-4D97-AF65-F5344CB8AC3E}">
        <p14:creationId xmlns:p14="http://schemas.microsoft.com/office/powerpoint/2010/main" val="1479722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2026-08-02T06:21:12.7050000Z</dcterms:created>
  <dcterms:modified xsi:type="dcterms:W3CDTF">2026-08-02T06:21:12.7050000Z</dcterms:modified>
</coreProperties>
</file>